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30 seconds. Open with Hyderabad: 76 fire NOCs checked by hand, 8 colleges booked. SatyaPatra does that check for every document at upload. Point at the screenshot: the red boxes are the evidence. Point at the green box: measured, not promised. Close: the officer decides; we make sure they decide on the truth.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Left: every choice has a reason and a rejected alternative; ask us about any of them. Right, follow the arrows: the institution and the officer sign in with their own roles. Every upload goes through the API queue into five engines: Read, Check against the APH rulebook, Confirm with the issuing authority, Detect tampering using cross-college memory, See the campus on satellite data, then Decide one of the six PS statuses. Results land in the database. The officer's queue reads them riskiest first; the officer decides; every decision is written to the hash-chained ledger; a clarification goes back to the institution, which re-submits. The diagram is an editable draw.io file in our repo.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Say the false-positive answer first, judges always ask it. Then the green band: measured, with the caveat. Right side: the three tiers explain how we confirm even when an issuer has no API.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Who benefits, then the four numbers. Each number has a source on the card; do not round them up.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If asked about DigiLocker: it only holds documents issued into it; most fire NOCs, lease deeds and affidavits are not there. We use it as one Tier 1 source.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 per member. Say: PS SIH26261 from AICTE, Smart Automation,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sih.gov.in/sih2026PS" TargetMode="External"/><Relationship Id="rId5" Type="http://schemas.openxmlformats.org/officeDocument/2006/relationships/hyperlink" Target="https://aicte.gov.in" TargetMode="External"/><Relationship Id="rId6" Type="http://schemas.openxmlformats.org/officeDocument/2006/relationships/hyperlink" Target="https://openaccess.thecvf.com/content/CVPR2023/html/Qu_Towards_Robust_Tampered_Text_Detection_in_Document_Image_New_Dataset_CVPR_2023_paper.html" TargetMode="External"/><Relationship Id="rId7" Type="http://schemas.openxmlformats.org/officeDocument/2006/relationships/hyperlink" Target="https://doi.org/10.1109/ICCV.2011.6126544" TargetMode="External"/><Relationship Id="rId8" Type="http://schemas.openxmlformats.org/officeDocument/2006/relationships/hyperlink" Target="https://doi.org/10.1145/358669.358692" TargetMode="External"/><Relationship Id="rId9" Type="http://schemas.openxmlformats.org/officeDocument/2006/relationships/hyperlink" Target="https://arxiv.org/abs/2009.09941" TargetMode="External"/><Relationship Id="rId10" Type="http://schemas.openxmlformats.org/officeDocument/2006/relationships/hyperlink" Target="https://arxiv.org/abs/2107.12283" TargetMode="External"/><Relationship Id="rId11" Type="http://schemas.openxmlformats.org/officeDocument/2006/relationships/hyperlink" Target="https://www.etsi.org/" TargetMode="External"/><Relationship Id="rId12" Type="http://schemas.openxmlformats.org/officeDocument/2006/relationships/hyperlink" Target="https://guidelines.india.gov.in/" TargetMode="External"/><Relationship Id="rId13" Type="http://schemas.openxmlformats.org/officeDocument/2006/relationships/hyperlink" Target="https://www.siasat.com/eight-colleges-booked-for-forging-hydraa-chiefs-signature-3519057/" TargetMode="External"/><Relationship Id="rId14" Type="http://schemas.openxmlformats.org/officeDocument/2006/relationships/hyperlink" Target="https://theprint.in/india/du-plans-to-develop-ai-based-verification-tool-after-detecting-manipulated-documents-in-admissions/2991453/" TargetMode="External"/><Relationship Id="rId15" Type="http://schemas.openxmlformats.org/officeDocument/2006/relationships/hyperlink" Target="https://news.careers360.com/delhi-coaching-centre-where-3-died-falsely-showed-basement-store-room-in-documents" TargetMode="External"/><Relationship Id="rId16" Type="http://schemas.openxmlformats.org/officeDocument/2006/relationships/hyperlink" Target="https://www.pressreader.com/india/hindustan-times-chandigarh/20170413/281779923991822" TargetMode="External"/><Relationship Id="rId17" Type="http://schemas.openxmlformats.org/officeDocument/2006/relationships/hyperlink" Target="https://www.dtnext.in/news/chennai/ghost-faculties-anna-univ-sends-notices-to-100-colleges-797156" TargetMode="External"/><Relationship Id="rId18" Type="http://schemas.openxmlformats.org/officeDocument/2006/relationships/hyperlink" Target="https://scroll.in/latest/1055121/830-fake-institutes-got-rs-144-crore-in-minority-scholarship-funds-alleges-cb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SatyaPatra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SIH26261</a:t>
            </a:r>
          </a:p>
          <a:p>
            <a:pPr marL="285750" indent="-285750" algn="l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AI-Powered Application Validation, Document Authentication and Regulatory Compliance Verification</a:t>
            </a:r>
          </a:p>
          <a:p>
            <a:pPr marL="285750" indent="-285750" algn="l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Theme – Smart Automation</a:t>
            </a:r>
          </a:p>
          <a:p>
            <a:pPr marL="285750" indent="-285750" algn="l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l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ID – [Team ID]</a:t>
            </a:r>
          </a:p>
          <a:p>
            <a:pPr marL="285750" indent="-285750" algn="l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[Team Name]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SatyaPatra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1737360" y="896112"/>
            <a:ext cx="7955279" cy="29260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Aft>
                <a:spcPts val="300"/>
              </a:spcAft>
              <a:buNone/>
            </a:pPr>
            <a:r>
              <a:rPr sz="1250" b="0" i="1" u="none">
                <a:solidFill>
                  <a:srgbClr val="1F3864"/>
                </a:solidFill>
                <a:latin typeface="Arial"/>
              </a:rPr>
              <a:t>Every AICTE approval document, confirmed with the authority that issued it, with the proof on screen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65760" y="1225296"/>
            <a:ext cx="813816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400" b="1" i="0" u="none">
                <a:solidFill>
                  <a:srgbClr val="0070C0"/>
                </a:solidFill>
                <a:latin typeface="Arial"/>
              </a:rPr>
              <a:t>❖ Proposed Solution (Describe your Idea/Solution/Prototype)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65760" y="1572768"/>
            <a:ext cx="2697480" cy="286207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5" name="TextBox 15364"/>
          <p:cNvSpPr txBox="1"/>
          <p:nvPr/>
        </p:nvSpPr>
        <p:spPr>
          <a:xfrm>
            <a:off x="438912" y="1618488"/>
            <a:ext cx="2551176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150" b="1" i="0" u="none">
                <a:solidFill>
                  <a:srgbClr val="1F3864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38912" y="2066543"/>
            <a:ext cx="2551176" cy="2331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46304" indent="-128016">
              <a:spcAft>
                <a:spcPts val="300"/>
              </a:spcAft>
              <a:buChar char="•"/>
            </a:pPr>
            <a:r>
              <a:rPr sz="1000" b="0" i="0" u="none">
                <a:solidFill>
                  <a:srgbClr val="1B2333"/>
                </a:solidFill>
                <a:latin typeface="Arial"/>
              </a:rPr>
              <a:t>Reads every upload: PDF text with positions, </a:t>
            </a:r>
            <a:r>
              <a:rPr sz="1000" b="1" i="0" u="none">
                <a:solidFill>
                  <a:srgbClr val="0070C0"/>
                </a:solidFill>
                <a:latin typeface="Arial"/>
              </a:rPr>
              <a:t>OCR</a:t>
            </a:r>
            <a:r>
              <a:rPr sz="1000" b="0" i="0" u="none">
                <a:solidFill>
                  <a:srgbClr val="1B2333"/>
                </a:solidFill>
                <a:latin typeface="Arial"/>
              </a:rPr>
              <a:t> for scans and photos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00" b="0" i="0" u="none">
                <a:solidFill>
                  <a:srgbClr val="1B2333"/>
                </a:solidFill>
                <a:latin typeface="Arial"/>
              </a:rPr>
              <a:t>Applies the </a:t>
            </a:r>
            <a:r>
              <a:rPr sz="1000" b="1" i="0" u="none">
                <a:solidFill>
                  <a:srgbClr val="0070C0"/>
                </a:solidFill>
                <a:latin typeface="Arial"/>
              </a:rPr>
              <a:t>APH 2024-27 rulebook</a:t>
            </a:r>
            <a:r>
              <a:rPr sz="1000" b="0" i="0" u="none">
                <a:solidFill>
                  <a:srgbClr val="1B2333"/>
                </a:solidFill>
                <a:latin typeface="Arial"/>
              </a:rPr>
              <a:t>: missing, expired, below-norm, mismatched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00" b="1" i="0" u="none">
                <a:solidFill>
                  <a:srgbClr val="0070C0"/>
                </a:solidFill>
                <a:latin typeface="Arial"/>
              </a:rPr>
              <a:t>Asks the issuer</a:t>
            </a:r>
            <a:r>
              <a:rPr sz="1000" b="0" i="0" u="none">
                <a:solidFill>
                  <a:srgbClr val="1B2333"/>
                </a:solidFill>
                <a:latin typeface="Arial"/>
              </a:rPr>
              <a:t>: signature, issuer portal, or a one-click confirm link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00" b="0" i="0" u="none">
                <a:solidFill>
                  <a:srgbClr val="1B2333"/>
                </a:solidFill>
                <a:latin typeface="Arial"/>
              </a:rPr>
              <a:t>Finds </a:t>
            </a:r>
            <a:r>
              <a:rPr sz="1000" b="1" i="0" u="none">
                <a:solidFill>
                  <a:srgbClr val="0070C0"/>
                </a:solidFill>
                <a:latin typeface="Arial"/>
              </a:rPr>
              <a:t>tampering</a:t>
            </a:r>
            <a:r>
              <a:rPr sz="1000" b="0" i="0" u="none">
                <a:solidFill>
                  <a:srgbClr val="1B2333"/>
                </a:solidFill>
                <a:latin typeface="Arial"/>
              </a:rPr>
              <a:t>: white patches, edits after signing, fake seals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00" b="0" i="0" u="none">
                <a:solidFill>
                  <a:srgbClr val="1B2333"/>
                </a:solidFill>
                <a:latin typeface="Arial"/>
              </a:rPr>
              <a:t>Gives </a:t>
            </a:r>
            <a:r>
              <a:rPr sz="1000" b="1" i="0" u="none">
                <a:solidFill>
                  <a:srgbClr val="0070C0"/>
                </a:solidFill>
                <a:latin typeface="Arial"/>
              </a:rPr>
              <a:t>1 of the 6 PS statuses</a:t>
            </a:r>
            <a:r>
              <a:rPr sz="1000" b="0" i="0" u="none">
                <a:solidFill>
                  <a:srgbClr val="1B2333"/>
                </a:solidFill>
                <a:latin typeface="Arial"/>
              </a:rPr>
              <a:t>, risk 0-100, evidence boxed on the page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3172968" y="1572768"/>
            <a:ext cx="2697480" cy="286207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8" name="TextBox 15367"/>
          <p:cNvSpPr txBox="1"/>
          <p:nvPr/>
        </p:nvSpPr>
        <p:spPr>
          <a:xfrm>
            <a:off x="3246120" y="1618488"/>
            <a:ext cx="2551176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150" b="1" i="0" u="none">
                <a:solidFill>
                  <a:srgbClr val="1F3864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3246120" y="2066543"/>
            <a:ext cx="2551176" cy="2331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46304" indent="-128016">
              <a:spcAft>
                <a:spcPts val="300"/>
              </a:spcAft>
              <a:buChar char="•"/>
            </a:pPr>
            <a:r>
              <a:rPr sz="1000" b="0" i="0" u="none">
                <a:solidFill>
                  <a:srgbClr val="1B2333"/>
                </a:solidFill>
                <a:latin typeface="Arial"/>
              </a:rPr>
              <a:t>Today a forged NOC passes until someone checks by hand: Hyderabad police booked </a:t>
            </a:r>
            <a:r>
              <a:rPr sz="1000" b="1" i="0" u="none">
                <a:solidFill>
                  <a:srgbClr val="0070C0"/>
                </a:solidFill>
                <a:latin typeface="Arial"/>
              </a:rPr>
              <a:t>8 junior colleges</a:t>
            </a:r>
            <a:r>
              <a:rPr sz="1000" b="0" i="0" u="none">
                <a:solidFill>
                  <a:srgbClr val="1B2333"/>
                </a:solidFill>
                <a:latin typeface="Arial"/>
              </a:rPr>
              <a:t> after </a:t>
            </a:r>
            <a:r>
              <a:rPr sz="1000" b="1" i="0" u="none">
                <a:solidFill>
                  <a:srgbClr val="0070C0"/>
                </a:solidFill>
                <a:latin typeface="Arial"/>
              </a:rPr>
              <a:t>76 fire NOCs</a:t>
            </a:r>
            <a:r>
              <a:rPr sz="1000" b="0" i="0" u="none">
                <a:solidFill>
                  <a:srgbClr val="1B2333"/>
                </a:solidFill>
                <a:latin typeface="Arial"/>
              </a:rPr>
              <a:t> were sent back to the issuer (Aug 2026)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00" b="0" i="0" u="none">
                <a:solidFill>
                  <a:srgbClr val="1B2333"/>
                </a:solidFill>
                <a:latin typeface="Arial"/>
              </a:rPr>
              <a:t>SatyaPatra makes that check the </a:t>
            </a:r>
            <a:r>
              <a:rPr sz="1000" b="1" i="0" u="none">
                <a:solidFill>
                  <a:srgbClr val="0070C0"/>
                </a:solidFill>
                <a:latin typeface="Arial"/>
              </a:rPr>
              <a:t>default for every document, in under a second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00" b="0" i="0" u="none">
                <a:solidFill>
                  <a:srgbClr val="1B2333"/>
                </a:solidFill>
                <a:latin typeface="Arial"/>
              </a:rPr>
              <a:t>Officers start with the </a:t>
            </a:r>
            <a:r>
              <a:rPr sz="1000" b="1" i="0" u="none">
                <a:solidFill>
                  <a:srgbClr val="0070C0"/>
                </a:solidFill>
                <a:latin typeface="Arial"/>
              </a:rPr>
              <a:t>riskiest files</a:t>
            </a:r>
            <a:r>
              <a:rPr sz="1000" b="0" i="0" u="none">
                <a:solidFill>
                  <a:srgbClr val="1B2333"/>
                </a:solidFill>
                <a:latin typeface="Arial"/>
              </a:rPr>
              <a:t>; every flag cites its rule and source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5980176" y="1572768"/>
            <a:ext cx="2514600" cy="286207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1" name="TextBox 15370"/>
          <p:cNvSpPr txBox="1"/>
          <p:nvPr/>
        </p:nvSpPr>
        <p:spPr>
          <a:xfrm>
            <a:off x="6053328" y="1618488"/>
            <a:ext cx="2368296" cy="43891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150" b="1" i="0" u="none">
                <a:solidFill>
                  <a:srgbClr val="1F3864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6053328" y="2066543"/>
            <a:ext cx="2368296" cy="2331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46304" indent="-128016">
              <a:spcAft>
                <a:spcPts val="300"/>
              </a:spcAft>
              <a:buChar char="•"/>
            </a:pPr>
            <a:r>
              <a:rPr sz="1000" b="1" i="0" u="none">
                <a:solidFill>
                  <a:srgbClr val="0070C0"/>
                </a:solidFill>
                <a:latin typeface="Arial"/>
              </a:rPr>
              <a:t>Verify at source</a:t>
            </a:r>
            <a:r>
              <a:rPr sz="1000" b="0" i="0" u="none">
                <a:solidFill>
                  <a:srgbClr val="1B2333"/>
                </a:solidFill>
                <a:latin typeface="Arial"/>
              </a:rPr>
              <a:t>, 3 tiers; never trusts a QR or phone printed on the document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00" b="1" i="0" u="none">
                <a:solidFill>
                  <a:srgbClr val="0070C0"/>
                </a:solidFill>
                <a:latin typeface="Arial"/>
              </a:rPr>
              <a:t>Cross-institution memory</a:t>
            </a:r>
            <a:r>
              <a:rPr sz="1000" b="0" i="0" u="none">
                <a:solidFill>
                  <a:srgbClr val="1B2333"/>
                </a:solidFill>
                <a:latin typeface="Arial"/>
              </a:rPr>
              <a:t>: same seal scan or faculty at two colleges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00" b="1" i="0" u="none">
                <a:solidFill>
                  <a:srgbClr val="0070C0"/>
                </a:solidFill>
                <a:latin typeface="Arial"/>
              </a:rPr>
              <a:t>Satellite reality check</a:t>
            </a:r>
            <a:r>
              <a:rPr sz="1000" b="0" i="0" u="none">
                <a:solidFill>
                  <a:srgbClr val="1B2333"/>
                </a:solidFill>
                <a:latin typeface="Arial"/>
              </a:rPr>
              <a:t> of built-up area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00" b="1" i="0" u="none">
                <a:solidFill>
                  <a:srgbClr val="0070C0"/>
                </a:solidFill>
                <a:latin typeface="Arial"/>
              </a:rPr>
              <a:t>Seal-specimen matching</a:t>
            </a:r>
            <a:r>
              <a:rPr sz="1000" b="0" i="0" u="none">
                <a:solidFill>
                  <a:srgbClr val="1B2333"/>
                </a:solidFill>
                <a:latin typeface="Arial"/>
              </a:rPr>
              <a:t> (ORB + RANSAC)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00" b="1" i="0" u="none">
                <a:solidFill>
                  <a:srgbClr val="0070C0"/>
                </a:solidFill>
                <a:latin typeface="Arial"/>
              </a:rPr>
              <a:t>On-prem AI</a:t>
            </a:r>
            <a:r>
              <a:rPr sz="1000" b="0" i="0" u="none">
                <a:solidFill>
                  <a:srgbClr val="1B2333"/>
                </a:solidFill>
                <a:latin typeface="Arial"/>
              </a:rPr>
              <a:t>, ₹0 licence, data stays with AICTE</a:t>
            </a:r>
          </a:p>
        </p:txBody>
      </p:sp>
      <p:pic>
        <p:nvPicPr>
          <p:cNvPr id="15373" name="Picture 15372" descr="shot_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780" y="1225296"/>
            <a:ext cx="3113280" cy="2103120"/>
          </a:xfrm>
          <a:prstGeom prst="rect">
            <a:avLst/>
          </a:prstGeom>
        </p:spPr>
      </p:pic>
      <p:sp>
        <p:nvSpPr>
          <p:cNvPr id="15374" name="TextBox 15373"/>
          <p:cNvSpPr txBox="1"/>
          <p:nvPr/>
        </p:nvSpPr>
        <p:spPr>
          <a:xfrm>
            <a:off x="8613648" y="3364992"/>
            <a:ext cx="3209544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850" b="0" i="1" u="none">
                <a:solidFill>
                  <a:srgbClr val="5B6476"/>
                </a:solidFill>
                <a:latin typeface="Arial"/>
              </a:rPr>
              <a:t>Working prototype (UX4G-based console): forged NOC flagged; numbered boxes mark the evidence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8613648" y="3639312"/>
            <a:ext cx="3209544" cy="795528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 w="12700">
            <a:solidFill>
              <a:srgbClr val="BFE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6" name="TextBox 15375"/>
          <p:cNvSpPr txBox="1"/>
          <p:nvPr/>
        </p:nvSpPr>
        <p:spPr>
          <a:xfrm>
            <a:off x="8686800" y="3675887"/>
            <a:ext cx="306324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300"/>
              </a:spcAft>
              <a:buNone/>
            </a:pPr>
            <a:r>
              <a:rPr sz="1700" b="1" i="0" u="none">
                <a:solidFill>
                  <a:srgbClr val="1A7F4B"/>
                </a:solidFill>
                <a:latin typeface="Arial"/>
              </a:rPr>
              <a:t>120/120</a:t>
            </a:r>
            <a:r>
              <a:rPr sz="950" b="0" i="0" u="none">
                <a:solidFill>
                  <a:srgbClr val="1B2333"/>
                </a:solidFill>
                <a:latin typeface="Arial"/>
              </a:rPr>
              <a:t>  forgeries caught   </a:t>
            </a:r>
            <a:r>
              <a:rPr sz="1700" b="1" i="0" u="none">
                <a:solidFill>
                  <a:srgbClr val="1A7F4B"/>
                </a:solidFill>
                <a:latin typeface="Arial"/>
              </a:rPr>
              <a:t>0/75</a:t>
            </a:r>
            <a:r>
              <a:rPr sz="950" b="0" i="0" u="none">
                <a:solidFill>
                  <a:srgbClr val="1B2333"/>
                </a:solidFill>
                <a:latin typeface="Arial"/>
              </a:rPr>
              <a:t>  false alarms</a:t>
            </a:r>
          </a:p>
          <a:p>
            <a:pPr algn="l">
              <a:spcAft>
                <a:spcPts val="300"/>
              </a:spcAft>
              <a:buNone/>
            </a:pPr>
            <a:r>
              <a:rPr sz="850" b="0" i="0" u="none">
                <a:solidFill>
                  <a:srgbClr val="5B6476"/>
                </a:solidFill>
                <a:latin typeface="Arial"/>
              </a:rPr>
              <a:t>0.14 s per PDF on a laptop CPU · 195 labelled test documents</a:t>
            </a:r>
          </a:p>
        </p:txBody>
      </p:sp>
      <p:pic>
        <p:nvPicPr>
          <p:cNvPr id="15377" name="Picture 15376" descr="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572000"/>
            <a:ext cx="11457432" cy="1196665"/>
          </a:xfrm>
          <a:prstGeom prst="rect">
            <a:avLst/>
          </a:prstGeom>
        </p:spPr>
      </p:pic>
      <p:sp>
        <p:nvSpPr>
          <p:cNvPr id="15378" name="TextBox 15377"/>
          <p:cNvSpPr txBox="1"/>
          <p:nvPr/>
        </p:nvSpPr>
        <p:spPr>
          <a:xfrm>
            <a:off x="365760" y="5852160"/>
            <a:ext cx="11457432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Arial"/>
              </a:rPr>
              <a:t>Demo video: </a:t>
            </a:r>
            <a:r>
              <a:rPr sz="1000" b="0" i="0" u="none">
                <a:solidFill>
                  <a:srgbClr val="5B6476"/>
                </a:solidFill>
                <a:latin typeface="Arial"/>
              </a:rPr>
              <a:t>[add unlisted link]</a:t>
            </a:r>
            <a:r>
              <a:rPr sz="1000" b="1" i="0" u="none">
                <a:solidFill>
                  <a:srgbClr val="1F3864"/>
                </a:solidFill>
                <a:latin typeface="Arial"/>
              </a:rPr>
              <a:t>     Live prototype: </a:t>
            </a:r>
            <a:r>
              <a:rPr sz="1000" b="0" i="0" u="none">
                <a:solidFill>
                  <a:srgbClr val="5B6476"/>
                </a:solidFill>
                <a:latin typeface="Arial"/>
              </a:rPr>
              <a:t>[add link]</a:t>
            </a:r>
            <a:r>
              <a:rPr sz="1000" b="1" i="0" u="none">
                <a:solidFill>
                  <a:srgbClr val="1F3864"/>
                </a:solidFill>
                <a:latin typeface="Arial"/>
              </a:rPr>
              <a:t>     Code: </a:t>
            </a:r>
            <a:r>
              <a:rPr sz="1000" b="0" i="0" u="none">
                <a:solidFill>
                  <a:srgbClr val="5B6476"/>
                </a:solidFill>
                <a:latin typeface="Arial"/>
              </a:rPr>
              <a:t>[add GitHub link]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434340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150" b="1" i="0" u="none">
                <a:solidFill>
                  <a:srgbClr val="0070C0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572768"/>
            <a:ext cx="4343400" cy="4069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46304" indent="-128016">
              <a:spcAft>
                <a:spcPts val="450"/>
              </a:spcAft>
              <a:buChar char="•"/>
            </a:pPr>
            <a:r>
              <a:rPr sz="980" b="1" i="0" u="none">
                <a:solidFill>
                  <a:srgbClr val="0070C0"/>
                </a:solidFill>
                <a:latin typeface="Arial"/>
              </a:rPr>
              <a:t>FastAPI · Python 3.12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: typed async API; Python owns document AI (vs Node.js: weak PDF and vision libraries)</a:t>
            </a:r>
          </a:p>
          <a:p>
            <a:pPr algn="l" marL="146304" indent="-128016">
              <a:spcAft>
                <a:spcPts val="450"/>
              </a:spcAft>
              <a:buChar char="•"/>
            </a:pPr>
            <a:r>
              <a:rPr sz="980" b="1" i="0" u="none">
                <a:solidFill>
                  <a:srgbClr val="0070C0"/>
                </a:solidFill>
                <a:latin typeface="Arial"/>
              </a:rPr>
              <a:t>PostgreSQL 16 (+ PostGIS at scale)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: ACID evidence records; the demo runs the same code on SQLite (vs MongoDB: weak joins for audit-grade records)</a:t>
            </a:r>
          </a:p>
          <a:p>
            <a:pPr algn="l" marL="146304" indent="-128016">
              <a:spcAft>
                <a:spcPts val="450"/>
              </a:spcAft>
              <a:buChar char="•"/>
            </a:pPr>
            <a:r>
              <a:rPr sz="980" b="1" i="0" u="none">
                <a:solidFill>
                  <a:srgbClr val="0070C0"/>
                </a:solidFill>
                <a:latin typeface="Arial"/>
              </a:rPr>
              <a:t>Redis + RQ workers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: add workers in approval season (vs Celery: heavier; Kafka: overkill at this scale)</a:t>
            </a:r>
          </a:p>
          <a:p>
            <a:pPr algn="l" marL="146304" indent="-128016">
              <a:spcAft>
                <a:spcPts val="450"/>
              </a:spcAft>
              <a:buChar char="•"/>
            </a:pPr>
            <a:r>
              <a:rPr sz="980" b="1" i="0" u="none">
                <a:solidFill>
                  <a:srgbClr val="0070C0"/>
                </a:solidFill>
                <a:latin typeface="Arial"/>
              </a:rPr>
              <a:t>MinIO (S3) on NIC / MeghRaj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: originals stored by SHA-256, encrypted (vs local disk: does not scale)</a:t>
            </a:r>
          </a:p>
          <a:p>
            <a:pPr algn="l" marL="146304" indent="-128016">
              <a:spcAft>
                <a:spcPts val="450"/>
              </a:spcAft>
              <a:buChar char="•"/>
            </a:pPr>
            <a:r>
              <a:rPr sz="980" b="1" i="0" u="none">
                <a:solidFill>
                  <a:srgbClr val="0070C0"/>
                </a:solidFill>
                <a:latin typeface="Arial"/>
              </a:rPr>
              <a:t>RapidOCR (PP-OCR models, ONNX)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: CPU, layout-robust, Apache-2.0 (vs cloud OCR: data leaves AICTE)</a:t>
            </a:r>
          </a:p>
          <a:p>
            <a:pPr algn="l" marL="146304" indent="-128016">
              <a:spcAft>
                <a:spcPts val="450"/>
              </a:spcAft>
              <a:buChar char="•"/>
            </a:pPr>
            <a:r>
              <a:rPr sz="980" b="1" i="0" u="none">
                <a:solidFill>
                  <a:srgbClr val="0070C0"/>
                </a:solidFill>
                <a:latin typeface="Arial"/>
              </a:rPr>
              <a:t>pyHanko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: validates PAdES signatures to the issuer's certificate; detects edits after signing</a:t>
            </a:r>
          </a:p>
          <a:p>
            <a:pPr algn="l" marL="146304" indent="-128016">
              <a:spcAft>
                <a:spcPts val="450"/>
              </a:spcAft>
              <a:buChar char="•"/>
            </a:pPr>
            <a:r>
              <a:rPr sz="980" b="1" i="0" u="none">
                <a:solidFill>
                  <a:srgbClr val="0070C0"/>
                </a:solidFill>
                <a:latin typeface="Arial"/>
              </a:rPr>
              <a:t>OpenCV ORB + RANSAC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: rotation-proof seal matching (vs image hashes: in our tests fakes scored as close as genuine)</a:t>
            </a:r>
          </a:p>
          <a:p>
            <a:pPr algn="l" marL="146304" indent="-128016">
              <a:spcAft>
                <a:spcPts val="450"/>
              </a:spcAft>
              <a:buChar char="•"/>
            </a:pPr>
            <a:r>
              <a:rPr sz="980" b="1" i="0" u="none">
                <a:solidFill>
                  <a:srgbClr val="0070C0"/>
                </a:solidFill>
                <a:latin typeface="Arial"/>
              </a:rPr>
              <a:t>Ollama + Llama 3.2 3B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: local AI only for unfamiliar layouts, every value grounded (vs cloud LLM APIs: data leaves, per-token cost)</a:t>
            </a:r>
          </a:p>
          <a:p>
            <a:pPr algn="l" marL="146304" indent="-128016">
              <a:spcAft>
                <a:spcPts val="450"/>
              </a:spcAft>
              <a:buChar char="•"/>
            </a:pPr>
            <a:r>
              <a:rPr sz="980" b="1" i="0" u="none">
                <a:solidFill>
                  <a:srgbClr val="0070C0"/>
                </a:solidFill>
                <a:latin typeface="Arial"/>
              </a:rPr>
              <a:t>React 18 + TypeScript on UX4G 3.0 tokens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: the Government of India design system, Noto Sans, accessibility bar (vs a custom look: no GIGW alignment)</a:t>
            </a:r>
          </a:p>
          <a:p>
            <a:pPr algn="l" marL="146304" indent="-128016">
              <a:spcAft>
                <a:spcPts val="450"/>
              </a:spcAft>
              <a:buChar char="•"/>
            </a:pPr>
            <a:r>
              <a:rPr sz="980" b="1" i="0" u="none">
                <a:solidFill>
                  <a:srgbClr val="0070C0"/>
                </a:solidFill>
                <a:latin typeface="Arial"/>
              </a:rPr>
              <a:t>Role-based sign-in + SHA-256 hash chain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: government SSO via OIDC; tamper-evident log (vs blockchain: same proof, no cost)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5715000"/>
            <a:ext cx="4343400" cy="457200"/>
          </a:xfrm>
          <a:prstGeom prst="roundRect">
            <a:avLst>
              <a:gd name="adj" fmla="val 20000"/>
            </a:avLst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11480" y="5733288"/>
            <a:ext cx="4251960" cy="42062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Aft>
                <a:spcPts val="300"/>
              </a:spcAft>
              <a:buNone/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100% open source  ·  ₹0 licence  ·  CPU only, no GPU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892040" y="1115568"/>
            <a:ext cx="6931152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150" b="1" i="0" u="none">
                <a:solidFill>
                  <a:srgbClr val="0070C0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pic>
        <p:nvPicPr>
          <p:cNvPr id="17415" name="Picture 17414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17320"/>
            <a:ext cx="6931152" cy="4223052"/>
          </a:xfrm>
          <a:prstGeom prst="rect">
            <a:avLst/>
          </a:prstGeom>
        </p:spPr>
      </p:pic>
      <p:sp>
        <p:nvSpPr>
          <p:cNvPr id="17416" name="Rounded Rectangle 17415"/>
          <p:cNvSpPr/>
          <p:nvPr/>
        </p:nvSpPr>
        <p:spPr>
          <a:xfrm>
            <a:off x="4892040" y="5715000"/>
            <a:ext cx="2249424" cy="457200"/>
          </a:xfrm>
          <a:prstGeom prst="roundRect">
            <a:avLst>
              <a:gd name="adj" fmla="val 6000"/>
            </a:avLst>
          </a:prstGeom>
          <a:solidFill>
            <a:srgbClr val="EEF0FC"/>
          </a:solidFill>
          <a:ln w="12700">
            <a:solidFill>
              <a:srgbClr val="DDE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4965192" y="5733288"/>
            <a:ext cx="2103120" cy="42062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300"/>
              </a:spcAft>
              <a:buNone/>
            </a:pPr>
            <a:r>
              <a:rPr sz="950" b="1" i="0" u="none">
                <a:solidFill>
                  <a:srgbClr val="1F3864"/>
                </a:solidFill>
                <a:latin typeface="Arial"/>
              </a:rPr>
              <a:t>1  Built  </a:t>
            </a:r>
            <a:r>
              <a:rPr sz="850" b="0" i="0" u="none">
                <a:solidFill>
                  <a:srgbClr val="1B2333"/>
                </a:solidFill>
                <a:latin typeface="Arial"/>
              </a:rPr>
              <a:t>5 engines, issuer sandbox, console, 6 passing tests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7232904" y="5715000"/>
            <a:ext cx="2249424" cy="457200"/>
          </a:xfrm>
          <a:prstGeom prst="roundRect">
            <a:avLst>
              <a:gd name="adj" fmla="val 6000"/>
            </a:avLst>
          </a:prstGeom>
          <a:solidFill>
            <a:srgbClr val="EEF0FC"/>
          </a:solidFill>
          <a:ln w="12700">
            <a:solidFill>
              <a:srgbClr val="DDE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7306056" y="5733288"/>
            <a:ext cx="2103120" cy="42062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300"/>
              </a:spcAft>
              <a:buNone/>
            </a:pPr>
            <a:r>
              <a:rPr sz="950" b="1" i="0" u="none">
                <a:solidFill>
                  <a:srgbClr val="1F3864"/>
                </a:solidFill>
                <a:latin typeface="Arial"/>
              </a:rPr>
              <a:t>2  Measured  </a:t>
            </a:r>
            <a:r>
              <a:rPr sz="850" b="0" i="0" u="none">
                <a:solidFill>
                  <a:srgbClr val="1B2333"/>
                </a:solidFill>
                <a:latin typeface="Arial"/>
              </a:rPr>
              <a:t>195 labelled documents, 8 forgery types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9573767" y="5715000"/>
            <a:ext cx="2249424" cy="457200"/>
          </a:xfrm>
          <a:prstGeom prst="roundRect">
            <a:avLst>
              <a:gd name="adj" fmla="val 6000"/>
            </a:avLst>
          </a:prstGeom>
          <a:solidFill>
            <a:srgbClr val="EEF0FC"/>
          </a:solidFill>
          <a:ln w="12700">
            <a:solidFill>
              <a:srgbClr val="DDE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9646919" y="5733288"/>
            <a:ext cx="2103120" cy="420624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300"/>
              </a:spcAft>
              <a:buNone/>
            </a:pPr>
            <a:r>
              <a:rPr sz="950" b="1" i="0" u="none">
                <a:solidFill>
                  <a:srgbClr val="1F3864"/>
                </a:solidFill>
                <a:latin typeface="Arial"/>
              </a:rPr>
              <a:t>3  Pilot  </a:t>
            </a:r>
            <a:r>
              <a:rPr sz="850" b="0" i="0" u="none">
                <a:solidFill>
                  <a:srgbClr val="1B2333"/>
                </a:solidFill>
                <a:latin typeface="Arial"/>
              </a:rPr>
              <a:t>Our college's EoA, then one regional office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250" b="1" i="0" u="none">
                <a:solidFill>
                  <a:srgbClr val="0070C0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417320"/>
            <a:ext cx="1746504" cy="8686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438912" y="1444752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150" b="1" i="0" u="none">
                <a:solidFill>
                  <a:srgbClr val="0070C0"/>
                </a:solidFill>
                <a:latin typeface="Arial"/>
              </a:rPr>
              <a:t>Technical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38912" y="1709928"/>
            <a:ext cx="160020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950" b="0" i="0" u="none">
                <a:solidFill>
                  <a:srgbClr val="1B2333"/>
                </a:solidFill>
                <a:latin typeface="Arial"/>
              </a:rPr>
              <a:t>Built and running today; every part is mature open source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221991" y="1417320"/>
            <a:ext cx="1746504" cy="8686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2295144" y="1444752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150" b="1" i="0" u="none">
                <a:solidFill>
                  <a:srgbClr val="1A7F4B"/>
                </a:solidFill>
                <a:latin typeface="Arial"/>
              </a:rPr>
              <a:t>Economic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295144" y="1709928"/>
            <a:ext cx="160020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950" b="0" i="0" u="none">
                <a:solidFill>
                  <a:srgbClr val="1B2333"/>
                </a:solidFill>
                <a:latin typeface="Arial"/>
              </a:rPr>
              <a:t>₹0 licence, no per-document fee, runs on existing NIC cloud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078224" y="1417320"/>
            <a:ext cx="1746504" cy="8686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4151376" y="1444752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150" b="1" i="0" u="none">
                <a:solidFill>
                  <a:srgbClr val="1F3864"/>
                </a:solidFill>
                <a:latin typeface="Arial"/>
              </a:rPr>
              <a:t>Operational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151376" y="1709928"/>
            <a:ext cx="160020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950" b="0" i="0" u="none">
                <a:solidFill>
                  <a:srgbClr val="1B2333"/>
                </a:solidFill>
                <a:latin typeface="Arial"/>
              </a:rPr>
              <a:t>Plugs in beside the AICTE portal; officers keep the decision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934456" y="1417320"/>
            <a:ext cx="1746504" cy="8686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6007608" y="1444752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150" b="1" i="0" u="none">
                <a:solidFill>
                  <a:srgbClr val="B8640F"/>
                </a:solidFill>
                <a:latin typeface="Arial"/>
              </a:rPr>
              <a:t>Legal &amp; data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007608" y="1709928"/>
            <a:ext cx="160020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950" b="0" i="0" u="none">
                <a:solidFill>
                  <a:srgbClr val="1B2333"/>
                </a:solidFill>
                <a:latin typeface="Arial"/>
              </a:rPr>
              <a:t>On-prem, role-based, salted ID hashes; built for DPDP Act 2023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65760" y="2377440"/>
            <a:ext cx="7315200" cy="96012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 w="12700">
            <a:solidFill>
              <a:srgbClr val="BFE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411480" y="2395728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2000" b="1" i="0" u="none">
                <a:solidFill>
                  <a:srgbClr val="1A7F4B"/>
                </a:solidFill>
                <a:latin typeface="Arial"/>
              </a:rPr>
              <a:t>120/120</a:t>
            </a:r>
          </a:p>
          <a:p>
            <a:pPr algn="l">
              <a:spcAft>
                <a:spcPts val="300"/>
              </a:spcAft>
              <a:buNone/>
            </a:pPr>
            <a:r>
              <a:rPr sz="919" b="0" i="0" u="none">
                <a:solidFill>
                  <a:srgbClr val="1B2333"/>
                </a:solidFill>
                <a:latin typeface="Arial"/>
              </a:rPr>
              <a:t>forgeries caught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240280" y="2395728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2000" b="1" i="0" u="none">
                <a:solidFill>
                  <a:srgbClr val="1A7F4B"/>
                </a:solidFill>
                <a:latin typeface="Arial"/>
              </a:rPr>
              <a:t>0/75</a:t>
            </a:r>
          </a:p>
          <a:p>
            <a:pPr algn="l">
              <a:spcAft>
                <a:spcPts val="300"/>
              </a:spcAft>
              <a:buNone/>
            </a:pPr>
            <a:r>
              <a:rPr sz="919" b="0" i="0" u="none">
                <a:solidFill>
                  <a:srgbClr val="1B2333"/>
                </a:solidFill>
                <a:latin typeface="Arial"/>
              </a:rPr>
              <a:t>false alarms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069080" y="2395728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2000" b="1" i="0" u="none">
                <a:solidFill>
                  <a:srgbClr val="1A7F4B"/>
                </a:solidFill>
                <a:latin typeface="Arial"/>
              </a:rPr>
              <a:t>0.14 s</a:t>
            </a:r>
          </a:p>
          <a:p>
            <a:pPr algn="l">
              <a:spcAft>
                <a:spcPts val="300"/>
              </a:spcAft>
              <a:buNone/>
            </a:pPr>
            <a:r>
              <a:rPr sz="919" b="0" i="0" u="none">
                <a:solidFill>
                  <a:srgbClr val="1B2333"/>
                </a:solidFill>
                <a:latin typeface="Arial"/>
              </a:rPr>
              <a:t>per PDF, laptop CPU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897880" y="2395728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2000" b="1" i="0" u="none">
                <a:solidFill>
                  <a:srgbClr val="1A7F4B"/>
                </a:solidFill>
                <a:latin typeface="Arial"/>
              </a:rPr>
              <a:t>6 of 8</a:t>
            </a:r>
          </a:p>
          <a:p>
            <a:pPr algn="l">
              <a:spcAft>
                <a:spcPts val="300"/>
              </a:spcAft>
              <a:buNone/>
            </a:pPr>
            <a:r>
              <a:rPr sz="919" b="0" i="0" u="none">
                <a:solidFill>
                  <a:srgbClr val="1B2333"/>
                </a:solidFill>
                <a:latin typeface="Arial"/>
              </a:rPr>
              <a:t>forgery types hit by 2+ independent signals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57200" y="3072384"/>
            <a:ext cx="7132320" cy="2468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850" b="0" i="1" u="none">
                <a:solidFill>
                  <a:srgbClr val="5B6476"/>
                </a:solidFill>
                <a:latin typeface="Arial"/>
              </a:rPr>
              <a:t>Measured on our labelled test set (195 synthetic documents, forgery types modelled on reported cases). The pilot measures real-world rates.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65760" y="3419856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150" b="1" i="0" u="none">
                <a:solidFill>
                  <a:srgbClr val="0070C0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3520440" y="3419856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150" b="1" i="0" u="none">
                <a:solidFill>
                  <a:srgbClr val="0070C0"/>
                </a:solidFill>
                <a:latin typeface="Arial"/>
              </a:rPr>
              <a:t>Strategies for overcoming these challenges</a:t>
            </a:r>
          </a:p>
        </p:txBody>
      </p:sp>
      <p:graphicFrame>
        <p:nvGraphicFramePr>
          <p:cNvPr id="17431" name="Table 17430"/>
          <p:cNvGraphicFramePr>
            <a:graphicFrameLocks noGrp="1"/>
          </p:cNvGraphicFramePr>
          <p:nvPr/>
        </p:nvGraphicFramePr>
        <p:xfrm>
          <a:off x="365760" y="3685032"/>
          <a:ext cx="7315200" cy="2496312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4389120"/>
              </a:tblGrid>
              <a:tr h="356616"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FFFFFF"/>
                          </a:solidFill>
                          <a:latin typeface="Arial"/>
                        </a:rPr>
                        <a:t>Challenge or risk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FFFFFF"/>
                          </a:solidFill>
                          <a:latin typeface="Arial"/>
                        </a:rP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1B2333"/>
                          </a:solidFill>
                          <a:latin typeface="Arial"/>
                        </a:rPr>
                        <a:t>Genuine document flagged by mistake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B2333"/>
                          </a:solidFill>
                          <a:latin typeface="Arial"/>
                        </a:rPr>
                        <a:t>Soft signals alone never mark a forgery; evidence shown; institution can reply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1B2333"/>
                          </a:solidFill>
                          <a:latin typeface="Arial"/>
                        </a:rPr>
                        <a:t>Issuer has no API (a city fire office)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B2333"/>
                          </a:solidFill>
                          <a:latin typeface="Arial"/>
                        </a:rPr>
                        <a:t>3-tier ladder; no reply within SLA goes to manual review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1B2333"/>
                          </a:solidFill>
                          <a:latin typeface="Arial"/>
                        </a:rPr>
                        <a:t>Phone scans and photographed documents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B2333"/>
                          </a:solidFill>
                          <a:latin typeface="Arial"/>
                        </a:rPr>
                        <a:t>OCR built in (0/15 false alarms on phone scans); unclear or handwritten fields go to manual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1B2333"/>
                          </a:solidFill>
                          <a:latin typeface="Arial"/>
                        </a:rPr>
                        <a:t>Forgers adapt to the detector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B2333"/>
                          </a:solidFill>
                          <a:latin typeface="Arial"/>
                        </a:rPr>
                        <a:t>Issuer confirmation cannot be faked; detector is one signal of many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1B2333"/>
                          </a:solidFill>
                          <a:latin typeface="Arial"/>
                        </a:rPr>
                        <a:t>Approval-season peak load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B2333"/>
                          </a:solidFill>
                          <a:latin typeface="Arial"/>
                        </a:rPr>
                        <a:t>Queue + more workers; issuer answers cached; ~0.14 s per PDF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1B2333"/>
                          </a:solidFill>
                          <a:latin typeface="Arial"/>
                        </a:rPr>
                        <a:t>Handbook changes every cycle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1B2333"/>
                          </a:solidFill>
                          <a:latin typeface="Arial"/>
                        </a:rPr>
                        <a:t>Rules in YAML with clause IDs, versioned by year, no code change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pic>
        <p:nvPicPr>
          <p:cNvPr id="17432" name="Picture 17431" descr="lad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7" y="1115568"/>
            <a:ext cx="3931920" cy="2730841"/>
          </a:xfrm>
          <a:prstGeom prst="rect">
            <a:avLst/>
          </a:prstGeom>
        </p:spPr>
      </p:pic>
      <p:sp>
        <p:nvSpPr>
          <p:cNvPr id="17433" name="Rounded Rectangle 17432"/>
          <p:cNvSpPr/>
          <p:nvPr/>
        </p:nvSpPr>
        <p:spPr>
          <a:xfrm>
            <a:off x="7882127" y="3956137"/>
            <a:ext cx="3931920" cy="226178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7973568" y="4001857"/>
            <a:ext cx="3749039" cy="212462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200" b="1" i="0" u="none">
                <a:solidFill>
                  <a:srgbClr val="1F3864"/>
                </a:solidFill>
                <a:latin typeface="Arial"/>
              </a:rPr>
              <a:t>Viability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b="1" i="0" u="none">
                <a:solidFill>
                  <a:srgbClr val="0070C0"/>
                </a:solidFill>
                <a:latin typeface="Arial"/>
              </a:rPr>
              <a:t>Pilot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: our college's EoA (with permission), then one AICTE regional office, then national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b="1" i="0" u="none">
                <a:solidFill>
                  <a:srgbClr val="0070C0"/>
                </a:solidFill>
                <a:latin typeface="Arial"/>
              </a:rPr>
              <a:t>Reuse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: UGC, NCTE, PCI and state boards face the same forged-certificate problem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b="1" i="0" u="none">
                <a:solidFill>
                  <a:srgbClr val="0070C0"/>
                </a:solidFill>
                <a:latin typeface="Arial"/>
              </a:rPr>
              <a:t>Sustainable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: open source under AICTE; no vendor lock-in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b="1" i="0" u="none">
                <a:solidFill>
                  <a:srgbClr val="0070C0"/>
                </a:solidFill>
                <a:latin typeface="Arial"/>
              </a:rPr>
              <a:t>Scale estimate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: if ~9,000 institutions send ~30 documents each, ~2.7 lakh documents at ~1 s each take under 2 days on 32 CPU cores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55778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250" b="1" i="0" u="none">
                <a:solidFill>
                  <a:srgbClr val="0070C0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411480" y="1517904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1005840" y="1463040"/>
            <a:ext cx="493776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200" b="1" i="0" u="none">
                <a:solidFill>
                  <a:srgbClr val="1F3864"/>
                </a:solidFill>
                <a:latin typeface="Arial"/>
              </a:rPr>
              <a:t>Students and parents</a:t>
            </a:r>
          </a:p>
          <a:p>
            <a:pPr algn="l">
              <a:spcAft>
                <a:spcPts val="300"/>
              </a:spcAft>
              <a:buNone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Real labs, real faculty and fire-safe buildings behind every approval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411480" y="2304288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005840" y="2249424"/>
            <a:ext cx="493776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200" b="1" i="0" u="none">
                <a:solidFill>
                  <a:srgbClr val="1F3864"/>
                </a:solidFill>
                <a:latin typeface="Arial"/>
              </a:rPr>
              <a:t>AICTE officers</a:t>
            </a:r>
          </a:p>
          <a:p>
            <a:pPr algn="l">
              <a:spcAft>
                <a:spcPts val="300"/>
              </a:spcAft>
              <a:buNone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Start with the riskiest files; routine checks automated; decisions backed by evidence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411480" y="3090672"/>
            <a:ext cx="457200" cy="457200"/>
          </a:xfrm>
          <a:prstGeom prst="ellipse">
            <a:avLst/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005840" y="3035808"/>
            <a:ext cx="493776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200" b="1" i="0" u="none">
                <a:solidFill>
                  <a:srgbClr val="1F3864"/>
                </a:solidFill>
                <a:latin typeface="Arial"/>
              </a:rPr>
              <a:t>Honest institutions</a:t>
            </a:r>
          </a:p>
          <a:p>
            <a:pPr algn="l">
              <a:spcAft>
                <a:spcPts val="300"/>
              </a:spcAft>
              <a:buNone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Self-check before submitting; fewer deficiency rounds; faster approval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411480" y="3877055"/>
            <a:ext cx="457200" cy="457200"/>
          </a:xfrm>
          <a:prstGeom prst="ellipse">
            <a:avLst/>
          </a:prstGeom>
          <a:solidFill>
            <a:srgbClr val="B8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005840" y="3822191"/>
            <a:ext cx="493776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200" b="1" i="0" u="none">
                <a:solidFill>
                  <a:srgbClr val="1F3864"/>
                </a:solidFill>
                <a:latin typeface="Arial"/>
              </a:rPr>
              <a:t>Issuing authorities</a:t>
            </a:r>
          </a:p>
          <a:p>
            <a:pPr algn="l">
              <a:spcAft>
                <a:spcPts val="300"/>
              </a:spcAft>
              <a:buNone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Forged copies of their certificates caught early; one-click confirmation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172200" y="1115568"/>
            <a:ext cx="566928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250" b="1" i="0" u="none">
                <a:solidFill>
                  <a:srgbClr val="0070C0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172200" y="1444752"/>
            <a:ext cx="2761488" cy="14813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6263640" y="1517904"/>
            <a:ext cx="2578608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250" b="1" i="0" u="none">
                <a:solidFill>
                  <a:srgbClr val="0070C0"/>
                </a:solidFill>
                <a:latin typeface="Arial"/>
              </a:rPr>
              <a:t>Social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263640" y="1828800"/>
            <a:ext cx="2578608" cy="106070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46304" indent="-128016">
              <a:spcAft>
                <a:spcPts val="200"/>
              </a:spcAft>
              <a:buChar char="•"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Fire, building and lab claims actually checked</a:t>
            </a:r>
          </a:p>
          <a:p>
            <a:pPr algn="l" marL="146304" indent="-128016">
              <a:spcAft>
                <a:spcPts val="200"/>
              </a:spcAft>
              <a:buChar char="•"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Students get the faculty they pay for</a:t>
            </a:r>
          </a:p>
          <a:p>
            <a:pPr algn="l" marL="146304" indent="-128016">
              <a:spcAft>
                <a:spcPts val="200"/>
              </a:spcAft>
              <a:buChar char="•"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Approved degrees stay trustworthy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061704" y="1444752"/>
            <a:ext cx="2761488" cy="14813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9153144" y="1517904"/>
            <a:ext cx="2578608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250" b="1" i="0" u="none">
                <a:solidFill>
                  <a:srgbClr val="1A7F4B"/>
                </a:solidFill>
                <a:latin typeface="Arial"/>
              </a:rPr>
              <a:t>Economic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153144" y="1828800"/>
            <a:ext cx="2578608" cy="106070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46304" indent="-128016">
              <a:spcAft>
                <a:spcPts val="200"/>
              </a:spcAft>
              <a:buChar char="•"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Officer hours saved on routine checks</a:t>
            </a:r>
          </a:p>
          <a:p>
            <a:pPr algn="l" marL="146304" indent="-128016">
              <a:spcAft>
                <a:spcPts val="200"/>
              </a:spcAft>
              <a:buChar char="•"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Public money not lost to fake institutions or fake FDRs</a:t>
            </a:r>
          </a:p>
          <a:p>
            <a:pPr algn="l" marL="146304" indent="-128016">
              <a:spcAft>
                <a:spcPts val="200"/>
              </a:spcAft>
              <a:buChar char="•"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₹0 licence, no per-document fee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72200" y="3035808"/>
            <a:ext cx="2761488" cy="14813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6263640" y="3108960"/>
            <a:ext cx="2578608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250" b="1" i="0" u="none">
                <a:solidFill>
                  <a:srgbClr val="2E7D32"/>
                </a:solidFill>
                <a:latin typeface="Arial"/>
              </a:rPr>
              <a:t>Environmental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263640" y="3419856"/>
            <a:ext cx="2578608" cy="106070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46304" indent="-128016">
              <a:spcAft>
                <a:spcPts val="200"/>
              </a:spcAft>
              <a:buChar char="•"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Paperless verification end to end</a:t>
            </a:r>
          </a:p>
          <a:p>
            <a:pPr algn="l" marL="146304" indent="-128016">
              <a:spcAft>
                <a:spcPts val="200"/>
              </a:spcAft>
              <a:buChar char="•"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Fewer courier and travel trips to re-verify</a:t>
            </a:r>
          </a:p>
          <a:p>
            <a:pPr algn="l" marL="146304" indent="-128016">
              <a:spcAft>
                <a:spcPts val="200"/>
              </a:spcAft>
              <a:buChar char="•"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Satellite screening before any site visit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9061704" y="3035808"/>
            <a:ext cx="2761488" cy="14813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9153144" y="3108960"/>
            <a:ext cx="2578608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250" b="1" i="0" u="none">
                <a:solidFill>
                  <a:srgbClr val="1F3864"/>
                </a:solidFill>
                <a:latin typeface="Arial"/>
              </a:rPr>
              <a:t>Governance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9153144" y="3419856"/>
            <a:ext cx="2578608" cy="106070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 marL="146304" indent="-128016">
              <a:spcAft>
                <a:spcPts val="200"/>
              </a:spcAft>
              <a:buChar char="•"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Same rules for every application</a:t>
            </a:r>
          </a:p>
          <a:p>
            <a:pPr algn="l" marL="146304" indent="-128016">
              <a:spcAft>
                <a:spcPts val="200"/>
              </a:spcAft>
              <a:buChar char="•"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Tamper-evident record of every decision</a:t>
            </a:r>
          </a:p>
          <a:p>
            <a:pPr algn="l" marL="146304" indent="-128016">
              <a:spcAft>
                <a:spcPts val="200"/>
              </a:spcAft>
              <a:buChar char="•"/>
            </a:pPr>
            <a:r>
              <a:rPr sz="1050" b="0" i="0" u="none">
                <a:solidFill>
                  <a:srgbClr val="1B2333"/>
                </a:solidFill>
                <a:latin typeface="Arial"/>
              </a:rPr>
              <a:t>Reusable by UGC, NCTE, PCI, state boards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65760" y="4663440"/>
            <a:ext cx="114300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200" b="1" i="0" u="none">
                <a:solidFill>
                  <a:srgbClr val="1F3864"/>
                </a:solidFill>
                <a:latin typeface="Arial"/>
              </a:rPr>
              <a:t>Why it matters: reported cases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65760" y="4956048"/>
            <a:ext cx="2768346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457200" y="4974336"/>
            <a:ext cx="2585465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2200" b="1" i="0" u="none">
                <a:solidFill>
                  <a:srgbClr val="C62828"/>
                </a:solidFill>
                <a:latin typeface="Arial"/>
              </a:rPr>
              <a:t>8 of 76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57200" y="5440680"/>
            <a:ext cx="2585465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930" b="0" i="0" u="none">
                <a:solidFill>
                  <a:srgbClr val="1B2333"/>
                </a:solidFill>
                <a:latin typeface="Arial"/>
              </a:rPr>
              <a:t>fire NOCs sent back for checking led to 8 Hyderabad junior colleges being booked for forgery (Siasat, Aug 2026)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262122" y="4956048"/>
            <a:ext cx="2768346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3353562" y="4974336"/>
            <a:ext cx="2585465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2200" b="1" i="0" u="none">
                <a:solidFill>
                  <a:srgbClr val="C62828"/>
                </a:solidFill>
                <a:latin typeface="Arial"/>
              </a:rPr>
              <a:t>1 in 3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353562" y="5440680"/>
            <a:ext cx="2585465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930" b="0" i="0" u="none">
                <a:solidFill>
                  <a:srgbClr val="1B2333"/>
                </a:solidFill>
                <a:latin typeface="Arial"/>
              </a:rPr>
              <a:t>technical institutes were caught filing false data for AICTE approval (Hindustan Times, Apr 2017)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158484" y="4956048"/>
            <a:ext cx="2768346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6249924" y="4974336"/>
            <a:ext cx="2585465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2200" b="1" i="0" u="none">
                <a:solidFill>
                  <a:srgbClr val="C62828"/>
                </a:solidFill>
                <a:latin typeface="Arial"/>
              </a:rPr>
              <a:t>353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249924" y="5440680"/>
            <a:ext cx="2585465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930" b="0" i="0" u="none">
                <a:solidFill>
                  <a:srgbClr val="1B2333"/>
                </a:solidFill>
                <a:latin typeface="Arial"/>
              </a:rPr>
              <a:t>full-time faculty on the payrolls of 2 to 11 engineering colleges at once (DT Next, Jul 2024)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9054846" y="4956048"/>
            <a:ext cx="2768346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TextBox 17442"/>
          <p:cNvSpPr txBox="1"/>
          <p:nvPr/>
        </p:nvSpPr>
        <p:spPr>
          <a:xfrm>
            <a:off x="9146286" y="4974336"/>
            <a:ext cx="2585465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2200" b="1" i="0" u="none">
                <a:solidFill>
                  <a:srgbClr val="C62828"/>
                </a:solidFill>
                <a:latin typeface="Arial"/>
              </a:rPr>
              <a:t>₹144 Cr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9146286" y="5440680"/>
            <a:ext cx="2585465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930" b="0" i="0" u="none">
                <a:solidFill>
                  <a:srgbClr val="1B2333"/>
                </a:solidFill>
                <a:latin typeface="Arial"/>
              </a:rPr>
              <a:t>in scholarships went to 830 fake or non-operational institutions (CBI FIR via Scroll, FY18-FY22)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1143000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250" b="1" i="0" u="none">
                <a:solidFill>
                  <a:srgbClr val="0070C0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417320"/>
            <a:ext cx="6035040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150" b="1" i="0" u="none">
                <a:solidFill>
                  <a:srgbClr val="1F3864"/>
                </a:solidFill>
                <a:latin typeface="Arial"/>
              </a:rPr>
              <a:t>How SatyaPatra compares with what exists today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365760" y="1737360"/>
          <a:ext cx="6035040" cy="2560320"/>
        </p:xfrm>
        <a:graphic>
          <a:graphicData uri="http://schemas.openxmlformats.org/drawingml/2006/table">
            <a:tbl>
              <a:tblPr firstRow="0" bandRow="0"/>
              <a:tblGrid>
                <a:gridCol w="1691640"/>
                <a:gridCol w="822960"/>
                <a:gridCol w="822960"/>
                <a:gridCol w="1005840"/>
                <a:gridCol w="777240"/>
                <a:gridCol w="914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Manual scrutiny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DigiLocker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Paid KYC / forgery APIs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Generic OCR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SatyaPatra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2333"/>
                          </a:solidFill>
                          <a:latin typeface="Arial"/>
                        </a:rPr>
                        <a:t>Confirms with the issuer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A85F00"/>
                          </a:solidFill>
                          <a:latin typeface="Arial"/>
                        </a:rPr>
                        <a:t>Partly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A85F00"/>
                          </a:solidFill>
                          <a:latin typeface="Arial"/>
                        </a:rPr>
                        <a:t>Its own docs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A85F00"/>
                          </a:solidFill>
                          <a:latin typeface="Arial"/>
                        </a:rPr>
                        <a:t>ID docs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62828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7F4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2333"/>
                          </a:solidFill>
                          <a:latin typeface="Arial"/>
                        </a:rPr>
                        <a:t>NOC, lease, FDR, affidavit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7F4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A85F00"/>
                          </a:solidFill>
                          <a:latin typeface="Arial"/>
                        </a:rPr>
                        <a:t>Few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62828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A85F00"/>
                          </a:solidFill>
                          <a:latin typeface="Arial"/>
                        </a:rPr>
                        <a:t>Extracts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7F4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2333"/>
                          </a:solidFill>
                          <a:latin typeface="Arial"/>
                        </a:rPr>
                        <a:t>Evidence for every flag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A85F00"/>
                          </a:solidFill>
                          <a:latin typeface="Arial"/>
                        </a:rPr>
                        <a:t>Varies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47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A85F00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62828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7F4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2333"/>
                          </a:solidFill>
                          <a:latin typeface="Arial"/>
                        </a:rPr>
                        <a:t>Memory across institutions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62828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62828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62828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62828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7F4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2333"/>
                          </a:solidFill>
                          <a:latin typeface="Arial"/>
                        </a:rPr>
                        <a:t>Checks buildings and photos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A85F00"/>
                          </a:solidFill>
                          <a:latin typeface="Arial"/>
                        </a:rPr>
                        <a:t>Visits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62828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62828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62828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7F4B"/>
                          </a:solidFill>
                          <a:latin typeface="Arial"/>
                        </a:rPr>
                        <a:t>Screens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2333"/>
                          </a:solidFill>
                          <a:latin typeface="Arial"/>
                        </a:rPr>
                        <a:t>No per-document fee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7F4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7F4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62828"/>
                          </a:solidFill>
                          <a:latin typeface="Arial"/>
                        </a:rPr>
                        <a:t>Paid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62828"/>
                          </a:solidFill>
                          <a:latin typeface="Arial"/>
                        </a:rPr>
                        <a:t>Paid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7F4B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7413" name="TextBox 17412"/>
          <p:cNvSpPr txBox="1"/>
          <p:nvPr/>
        </p:nvSpPr>
        <p:spPr>
          <a:xfrm>
            <a:off x="365760" y="4434840"/>
            <a:ext cx="6035040" cy="1783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150" b="1" i="0" u="none">
                <a:solidFill>
                  <a:srgbClr val="1F3864"/>
                </a:solidFill>
                <a:latin typeface="Arial"/>
              </a:rPr>
              <a:t>What we learned from earlier SIH work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b="0" i="0" u="none">
                <a:solidFill>
                  <a:srgbClr val="1B2333"/>
                </a:solidFill>
                <a:latin typeface="Arial"/>
              </a:rPr>
              <a:t>SIH 2024: an </a:t>
            </a:r>
            <a:r>
              <a:rPr sz="980" b="1" i="0" u="none">
                <a:solidFill>
                  <a:srgbClr val="0070C0"/>
                </a:solidFill>
                <a:latin typeface="Arial"/>
              </a:rPr>
              <a:t>AI-supported AICTE approval portal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 (K L University) automated the workflow. We verify what flows through it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b="0" i="0" u="none">
                <a:solidFill>
                  <a:srgbClr val="1B2333"/>
                </a:solidFill>
                <a:latin typeface="Arial"/>
              </a:rPr>
              <a:t>SIH 2022 (official winners list): </a:t>
            </a:r>
            <a:r>
              <a:rPr sz="980" b="1" i="0" u="none">
                <a:solidFill>
                  <a:srgbClr val="0070C0"/>
                </a:solidFill>
                <a:latin typeface="Arial"/>
              </a:rPr>
              <a:t>AICTE one-point student/faculty verification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; </a:t>
            </a:r>
            <a:r>
              <a:rPr sz="980" b="1" i="0" u="none">
                <a:solidFill>
                  <a:srgbClr val="0070C0"/>
                </a:solidFill>
                <a:latin typeface="Arial"/>
              </a:rPr>
              <a:t>CertiSetu</a:t>
            </a:r>
            <a:r>
              <a:rPr sz="980" b="0" i="0" u="none">
                <a:solidFill>
                  <a:srgbClr val="1B2333"/>
                </a:solidFill>
                <a:latin typeface="Arial"/>
              </a:rPr>
              <a:t> scholarship verification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b="0" i="0" u="none">
                <a:solidFill>
                  <a:srgbClr val="5B6476"/>
                </a:solidFill>
                <a:latin typeface="Arial"/>
              </a:rPr>
              <a:t>Stakeholder input: [add one line from your college's AICTE coordinator]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629400" y="1417320"/>
            <a:ext cx="5193792" cy="2743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150" b="1" i="0" u="none">
                <a:solidFill>
                  <a:srgbClr val="1F3864"/>
                </a:solidFill>
                <a:latin typeface="Arial"/>
              </a:rPr>
              <a:t>Research papers, standards and sources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629400" y="1700784"/>
            <a:ext cx="5193792" cy="45262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1. </a:t>
            </a:r>
            <a:r>
              <a:rPr sz="880" b="0" i="0" u="none">
                <a:solidFill>
                  <a:srgbClr val="0070C0"/>
                </a:solidFill>
                <a:latin typeface="Arial"/>
                <a:hlinkClick r:id="rId4"/>
              </a:rPr>
              <a:t>PS SIH26261, AICTE (sih.gov.in)</a:t>
            </a:r>
          </a:p>
          <a:p>
            <a:pPr algn="l">
              <a:spcAft>
                <a:spcPts val="300"/>
              </a:spcAft>
              <a:buNone/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2. </a:t>
            </a:r>
            <a:r>
              <a:rPr sz="880" b="0" i="0" u="none">
                <a:solidFill>
                  <a:srgbClr val="0070C0"/>
                </a:solidFill>
                <a:latin typeface="Arial"/>
                <a:hlinkClick r:id="rId5"/>
              </a:rPr>
              <a:t>AICTE Approval Process Handbook 2024-27</a:t>
            </a:r>
          </a:p>
          <a:p>
            <a:pPr algn="l">
              <a:spcAft>
                <a:spcPts val="300"/>
              </a:spcAft>
              <a:buNone/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3. </a:t>
            </a:r>
            <a:r>
              <a:rPr sz="880" b="0" i="0" u="none">
                <a:solidFill>
                  <a:srgbClr val="0070C0"/>
                </a:solidFill>
                <a:latin typeface="Arial"/>
                <a:hlinkClick r:id="rId6"/>
              </a:rPr>
              <a:t>Qu et al., Robust Tampered Text Detection in Document Images (DocTamper), CVPR 2023</a:t>
            </a:r>
          </a:p>
          <a:p>
            <a:pPr algn="l">
              <a:spcAft>
                <a:spcPts val="300"/>
              </a:spcAft>
              <a:buNone/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4. </a:t>
            </a:r>
            <a:r>
              <a:rPr sz="880" b="0" i="0" u="none">
                <a:solidFill>
                  <a:srgbClr val="0070C0"/>
                </a:solidFill>
                <a:latin typeface="Arial"/>
                <a:hlinkClick r:id="rId7"/>
              </a:rPr>
              <a:t>Rublee et al., ORB: an efficient alternative to SIFT or SURF, ICCV 2011, doi:10.1109/ICCV.2011.6126544</a:t>
            </a:r>
          </a:p>
          <a:p>
            <a:pPr algn="l">
              <a:spcAft>
                <a:spcPts val="300"/>
              </a:spcAft>
              <a:buNone/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5. </a:t>
            </a:r>
            <a:r>
              <a:rPr sz="880" b="0" i="0" u="none">
                <a:solidFill>
                  <a:srgbClr val="0070C0"/>
                </a:solidFill>
                <a:latin typeface="Arial"/>
                <a:hlinkClick r:id="rId8"/>
              </a:rPr>
              <a:t>Fischler &amp; Bolles, Random Sample Consensus, CACM 1981, doi:10.1145/358669.358692</a:t>
            </a:r>
          </a:p>
          <a:p>
            <a:pPr algn="l">
              <a:spcAft>
                <a:spcPts val="300"/>
              </a:spcAft>
              <a:buNone/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6. </a:t>
            </a:r>
            <a:r>
              <a:rPr sz="880" b="0" i="0" u="none">
                <a:solidFill>
                  <a:srgbClr val="0070C0"/>
                </a:solidFill>
                <a:latin typeface="Arial"/>
                <a:hlinkClick r:id="rId9"/>
              </a:rPr>
              <a:t>Du et al., PP-OCR: a practical ultra lightweight OCR system, arXiv:2009.09941</a:t>
            </a:r>
          </a:p>
          <a:p>
            <a:pPr algn="l">
              <a:spcAft>
                <a:spcPts val="300"/>
              </a:spcAft>
              <a:buNone/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7. </a:t>
            </a:r>
            <a:r>
              <a:rPr sz="880" b="0" i="0" u="none">
                <a:solidFill>
                  <a:srgbClr val="0070C0"/>
                </a:solidFill>
                <a:latin typeface="Arial"/>
                <a:hlinkClick r:id="rId10"/>
              </a:rPr>
              <a:t>Sirko et al., Continental-scale building detection (Open Buildings), arXiv:2107.12283</a:t>
            </a:r>
          </a:p>
          <a:p>
            <a:pPr algn="l">
              <a:spcAft>
                <a:spcPts val="300"/>
              </a:spcAft>
              <a:buNone/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8. </a:t>
            </a:r>
            <a:r>
              <a:rPr sz="880" b="0" i="0" u="none">
                <a:solidFill>
                  <a:srgbClr val="0070C0"/>
                </a:solidFill>
                <a:latin typeface="Arial"/>
                <a:hlinkClick r:id="rId11"/>
              </a:rPr>
              <a:t>ETSI EN 319 142 (PAdES): PDF digital signatures</a:t>
            </a:r>
          </a:p>
          <a:p>
            <a:pPr algn="l">
              <a:spcAft>
                <a:spcPts val="300"/>
              </a:spcAft>
              <a:buNone/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9. </a:t>
            </a:r>
            <a:r>
              <a:rPr sz="880" b="0" i="0" u="none">
                <a:solidFill>
                  <a:srgbClr val="0070C0"/>
                </a:solidFill>
                <a:latin typeface="Arial"/>
                <a:hlinkClick r:id="rId12"/>
              </a:rPr>
              <a:t>GIGW 3.0: Indian government web guidelines (WCAG 2.1 AA)</a:t>
            </a:r>
          </a:p>
          <a:p>
            <a:pPr algn="l">
              <a:spcAft>
                <a:spcPts val="300"/>
              </a:spcAft>
              <a:buNone/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10. </a:t>
            </a:r>
            <a:r>
              <a:rPr sz="880" b="0" i="0" u="none">
                <a:solidFill>
                  <a:srgbClr val="0070C0"/>
                </a:solidFill>
                <a:latin typeface="Arial"/>
                <a:hlinkClick r:id="rId13"/>
              </a:rPr>
              <a:t>Siasat, Eight colleges booked for forging HYDRAA chief's signature, Aug 2026</a:t>
            </a:r>
          </a:p>
          <a:p>
            <a:pPr algn="l">
              <a:spcAft>
                <a:spcPts val="300"/>
              </a:spcAft>
              <a:buNone/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11. </a:t>
            </a:r>
            <a:r>
              <a:rPr sz="880" b="0" i="0" u="none">
                <a:solidFill>
                  <a:srgbClr val="0070C0"/>
                </a:solidFill>
                <a:latin typeface="Arial"/>
                <a:hlinkClick r:id="rId14"/>
              </a:rPr>
              <a:t>ThePrint/PTI, DU plans AI tool after manipulated documents, 20 Jul 2026</a:t>
            </a:r>
          </a:p>
          <a:p>
            <a:pPr algn="l">
              <a:spcAft>
                <a:spcPts val="300"/>
              </a:spcAft>
              <a:buNone/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12. </a:t>
            </a:r>
            <a:r>
              <a:rPr sz="880" b="0" i="0" u="none">
                <a:solidFill>
                  <a:srgbClr val="0070C0"/>
                </a:solidFill>
                <a:latin typeface="Arial"/>
                <a:hlinkClick r:id="rId15"/>
              </a:rPr>
              <a:t>Careers360/PTI, Delhi basement shown as store room in documents, Jul 2024</a:t>
            </a:r>
          </a:p>
          <a:p>
            <a:pPr algn="l">
              <a:spcAft>
                <a:spcPts val="300"/>
              </a:spcAft>
              <a:buNone/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13. </a:t>
            </a:r>
            <a:r>
              <a:rPr sz="880" b="0" i="0" u="none">
                <a:solidFill>
                  <a:srgbClr val="0070C0"/>
                </a:solidFill>
                <a:latin typeface="Arial"/>
                <a:hlinkClick r:id="rId16"/>
              </a:rPr>
              <a:t>Hindustan Times, One in 3 tech institutes filed false data for AICTE nod, 13 Apr 2017</a:t>
            </a:r>
          </a:p>
          <a:p>
            <a:pPr algn="l">
              <a:spcAft>
                <a:spcPts val="300"/>
              </a:spcAft>
              <a:buNone/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14. </a:t>
            </a:r>
            <a:r>
              <a:rPr sz="880" b="0" i="0" u="none">
                <a:solidFill>
                  <a:srgbClr val="0070C0"/>
                </a:solidFill>
                <a:latin typeface="Arial"/>
                <a:hlinkClick r:id="rId17"/>
              </a:rPr>
              <a:t>DT Next, Ghost faculties: Anna Univ sends notices to 100 colleges, 2024</a:t>
            </a:r>
          </a:p>
          <a:p>
            <a:pPr algn="l">
              <a:spcAft>
                <a:spcPts val="300"/>
              </a:spcAft>
              <a:buNone/>
            </a:pPr>
            <a:r>
              <a:rPr sz="880" b="1" i="0" u="none">
                <a:solidFill>
                  <a:srgbClr val="1F3864"/>
                </a:solidFill>
                <a:latin typeface="Arial"/>
              </a:rPr>
              <a:t>15. </a:t>
            </a:r>
            <a:r>
              <a:rPr sz="880" b="0" i="0" u="none">
                <a:solidFill>
                  <a:srgbClr val="0070C0"/>
                </a:solidFill>
                <a:latin typeface="Arial"/>
                <a:hlinkClick r:id="rId18"/>
              </a:rPr>
              <a:t>Scroll, 830 fake institutes got Rs 144 crore in scholarships (CBI), Aug 2023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629400" y="4572000"/>
            <a:ext cx="5193792" cy="16459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6720840" y="4617720"/>
            <a:ext cx="5010912" cy="15727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100" b="1" i="0" u="none">
                <a:solidFill>
                  <a:srgbClr val="1F3864"/>
                </a:solidFill>
                <a:latin typeface="Arial"/>
              </a:rPr>
              <a:t>Data and test assets (all free)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19" b="1" i="0" u="none">
                <a:solidFill>
                  <a:srgbClr val="0070C0"/>
                </a:solidFill>
                <a:latin typeface="Arial"/>
              </a:rPr>
              <a:t>Labelled test set we built</a:t>
            </a:r>
            <a:r>
              <a:rPr sz="919" b="0" i="0" u="none">
                <a:solidFill>
                  <a:srgbClr val="1B2333"/>
                </a:solidFill>
                <a:latin typeface="Arial"/>
              </a:rPr>
              <a:t>: 195 documents, 8 forgery types (PS allows synthetic data)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19" b="1" i="0" u="none">
                <a:solidFill>
                  <a:srgbClr val="0070C0"/>
                </a:solidFill>
                <a:latin typeface="Arial"/>
              </a:rPr>
              <a:t>Rules</a:t>
            </a:r>
            <a:r>
              <a:rPr sz="919" b="0" i="0" u="none">
                <a:solidFill>
                  <a:srgbClr val="1B2333"/>
                </a:solidFill>
                <a:latin typeface="Arial"/>
              </a:rPr>
              <a:t>: APH 2024-27; </a:t>
            </a:r>
            <a:r>
              <a:rPr sz="919" b="1" i="0" u="none">
                <a:solidFill>
                  <a:srgbClr val="0070C0"/>
                </a:solidFill>
                <a:latin typeface="Arial"/>
              </a:rPr>
              <a:t>public EoA letters</a:t>
            </a:r>
            <a:r>
              <a:rPr sz="919" b="0" i="0" u="none">
                <a:solidFill>
                  <a:srgbClr val="1B2333"/>
                </a:solidFill>
                <a:latin typeface="Arial"/>
              </a:rPr>
              <a:t> (mandatory disclosure) for real layouts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19" b="1" i="0" u="none">
                <a:solidFill>
                  <a:srgbClr val="0070C0"/>
                </a:solidFill>
                <a:latin typeface="Arial"/>
              </a:rPr>
              <a:t>DocTamper</a:t>
            </a:r>
            <a:r>
              <a:rPr sz="919" b="0" i="0" u="none">
                <a:solidFill>
                  <a:srgbClr val="1B2333"/>
                </a:solidFill>
                <a:latin typeface="Arial"/>
              </a:rPr>
              <a:t> for tamper-model training; </a:t>
            </a:r>
            <a:r>
              <a:rPr sz="919" b="1" i="0" u="none">
                <a:solidFill>
                  <a:srgbClr val="0070C0"/>
                </a:solidFill>
                <a:latin typeface="Arial"/>
              </a:rPr>
              <a:t>Open Buildings + OpenStreetMap</a:t>
            </a:r>
            <a:r>
              <a:rPr sz="919" b="0" i="0" u="none">
                <a:solidFill>
                  <a:srgbClr val="1B2333"/>
                </a:solidFill>
                <a:latin typeface="Arial"/>
              </a:rPr>
              <a:t> for footprints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19" b="1" i="0" u="none">
                <a:solidFill>
                  <a:srgbClr val="0070C0"/>
                </a:solidFill>
                <a:latin typeface="Arial"/>
              </a:rPr>
              <a:t>Sandbox issuer PKI</a:t>
            </a:r>
            <a:r>
              <a:rPr sz="919" b="0" i="0" u="none">
                <a:solidFill>
                  <a:srgbClr val="1B2333"/>
                </a:solidFill>
                <a:latin typeface="Arial"/>
              </a:rPr>
              <a:t> (our own CA) to test real PDF signatures end to end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